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5E20"/>
                </a:solidFill>
                <a:latin typeface="Arial"/>
              </a:rPr>
              <a:t>Top 6 States by Farmers Covered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Farmers Covered (Millions)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5E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8E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1C78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Rajasthan</c:v>
                  </c:pt>
                  <c:pt idx="1">
                    <c:v>Maharashtra</c:v>
                  </c:pt>
                  <c:pt idx="2">
                    <c:v>Madhya Pradesh</c:v>
                  </c:pt>
                  <c:pt idx="3">
                    <c:v>Gujarat</c:v>
                  </c:pt>
                  <c:pt idx="4">
                    <c:v>Karnataka</c:v>
                  </c:pt>
                  <c:pt idx="5">
                    <c:v>Andhra Pradesh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12.4</c:v>
                </c:pt>
                <c:pt idx="1">
                  <c:v>10.8</c:v>
                </c:pt>
                <c:pt idx="2">
                  <c:v>9.7</c:v>
                </c:pt>
                <c:pt idx="3">
                  <c:v>7.2</c:v>
                </c:pt>
                <c:pt idx="4">
                  <c:v>5.9</c:v>
                </c:pt>
                <c:pt idx="5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5E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5E20"/>
                </a:solidFill>
                <a:latin typeface="Arial"/>
              </a:rPr>
              <a:t>Premium Contribution Split (Avg 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Premium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F9A825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Farmers Premium</c:v>
                </c:pt>
                <c:pt idx="1">
                  <c:v>State Premium</c:v>
                </c:pt>
                <c:pt idx="2">
                  <c:v>GOV Premium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38</c:v>
                </c:pt>
                <c:pt idx="2">
                  <c:v>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5E20"/>
                </a:solidFill>
                <a:latin typeface="Arial"/>
              </a:rPr>
              <a:t>Year-wise Avg Gross Premium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Gross Premium (₹)</c:v>
                </c:pt>
              </c:strCache>
            </c:strRef>
          </c:tx>
          <c:spPr>
            <a:solidFill>
              <a:srgbClr val="F9A825"/>
            </a:solidFill>
            <a:ln w="38100" cap="flat">
              <a:solidFill>
                <a:srgbClr val="F9A82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A825"/>
              </a:solidFill>
              <a:ln w="9525" cap="flat">
                <a:solidFill>
                  <a:srgbClr val="F9A8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4800000</c:v>
                </c:pt>
                <c:pt idx="1">
                  <c:v>5600000</c:v>
                </c:pt>
                <c:pt idx="2">
                  <c:v>6100000</c:v>
                </c:pt>
                <c:pt idx="3">
                  <c:v>7200000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371600" cy="2857500"/>
          </a:xfrm>
          <a:prstGeom prst="rect">
            <a:avLst/>
          </a:prstGeom>
          <a:solidFill>
            <a:srgbClr val="4CAF50">
              <a:alpha val="4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01168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</a:rPr>
              <a:t>SQL DATA 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Insurance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India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Exploring crop insurance coverage, premiums, 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D6A7"/>
                </a:solidFill>
              </a:rPr>
              <a:t>farmer demographics across 27 Indian states (2018–2021)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</a:rPr>
              <a:t>Debojyoti  |  NDAP Farmers Insurance Dataset  |  MySQL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1,870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District-year observations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1965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1965960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07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27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States Covered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Across all Indian regions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65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05840"/>
            <a:ext cx="1965960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207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2018–21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Years Analysed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4 consecutive years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1965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05840"/>
            <a:ext cx="1965960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207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NDAP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National Data &amp; Analytics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651760"/>
            <a:ext cx="8595360" cy="2148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51760"/>
            <a:ext cx="109728" cy="2148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Project Objective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108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Analyse India's Pradhan Mantri Fasal Bima Yojana (PMFBY) data to uncover patterns in crop insurance adoption, premium distribution, and farmer demographics. The project uses MySQL to query 1,870 district-level records spanning 27 states across four years, answering real business questions around coverage gaps, premium trends, and regional disparities.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SCHEMA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Main Table: FarmersInsuranceData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4754880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920240"/>
              </a:tblGrid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rowID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INT PK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Unique row identifier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srcYear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Year of record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srcStateName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VARCHAR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State 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srcDistrictName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VARCHAR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District 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TotalFarmersCovered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Farmers enrolled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InsuredLandArea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Land area insured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FarmersPremiumAmount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Premium paid by farmers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GrossPremiumAmountToBePaid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Total gross premium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SumInsured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</a:rPr>
                        <a:t>Total insured sum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TotalPopulation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District population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Supporting Tables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3474720" cy="82296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states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StateCode (PK)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reference table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Full state 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33172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districts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DistrictCode (PK)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District reference table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DistrictName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Full district name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StateCode (FK)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Links to states table</a:t>
                      </a:r>
                      <a:endParaRPr lang="en-US" sz="9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303520" y="3429000"/>
            <a:ext cx="347472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303520" y="3429000"/>
            <a:ext cx="91440" cy="1463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53212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Key Notes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532120" y="3822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• Premium values are in absolute INR (not crores)
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• Percentage columns sum to ~100% per row
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• Scaling factor = 0 for all columns per NDAP metadata
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• NULL values present in premium &amp; percentage fields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SQL TECHNIQUES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14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DDL &amp; DML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2801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CREATE TABLE, INSERT, UPDATE, DELETE, ALTER TABLE with FK constraints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10972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20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Filtering &amp; Sorting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2860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WHERE, BETWEEN, LIKE, IN, ORDER BY, LIMIT for targeted data retrieval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109728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Aggregation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91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SUM, AVG, COUNT, MIN, MAX with GROUP BY and HAVING clauses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77640"/>
            <a:ext cx="10972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32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Joins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97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INNER JOIN, LEFT JOIN, self-join for combining state, district and insurance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109728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014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Subqueries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12801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Nested subqueries (correlated &amp; non-correlated) for multi-level filtering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965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965960"/>
            <a:ext cx="10972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020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Window Functions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22860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ROW_NUMBER(), RANK(), SUM() OVER with PARTITION BY for cumulative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71800"/>
            <a:ext cx="109728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String Functions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0328" y="3291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LEFT(), LIKE with wildcards for extracting and filtering text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977640"/>
            <a:ext cx="10972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4032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CTEs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0328" y="4297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Common Table Expressions to structure complex multi-step queries cleanly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ANALYSIS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2471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03327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033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Coverage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Which states had the highest total farmers covered?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12471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01000" y="103327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033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Premiums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76088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How does premium contribution vary by state and year?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08483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0" y="199339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Sorting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41248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Which districts had the lowest non-zero FarmersPremiumAmount?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9202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08483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199339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Ratios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76088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Which states show the highest insured-farmer-to-population ratio?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04495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295351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2953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Joins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Which production companies have the highest multilingual hit count?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8803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82312" y="304495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01000" y="295351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2953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Trends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76088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How does insured land area trend across years per state?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8404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400507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66160" y="391363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913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Subquery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Which districts exceed the average TotalFarmersCovered?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8404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82312" y="400507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01000" y="3913632"/>
            <a:ext cx="7772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3913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</a:rPr>
              <a:t>Window Fn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276088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Cumulative premium per district ordered by year using window functions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FINDINGS — COVERAGE BY STATE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33872" y="144475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63056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Rajasthan leads in total farmers covered, reflecting large agricultural land area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05740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33872" y="213055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63056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Top 3 states contribute nearly 50% of all insured farmers nationally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74320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33872" y="281635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3056" y="2743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Southern states show lower absolute coverage but higher per-capita ratios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2900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33872" y="350215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3056" y="3429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Coverage grew consistently from 2018 to 2021 across most states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411480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33872" y="418795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63056" y="4114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Districts with InsuranceUnits &gt; 0 show significantly higher premium collection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PREMIUM ANALYSIS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914400"/>
          <a:ext cx="4297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WINDOW FUNCTIONS — DEEP DIVE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33272"/>
            <a:ext cx="164592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ROW_NUMBER()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3327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Assign row numbers ordered by TotalFarmersCovered DESC — useful for pagination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8321040" cy="54864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 OVER (ORDER BY TotalFarmersCovered DESC)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59152"/>
            <a:ext cx="164592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91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RANK()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5915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Rank districts by SumInsured within each state — PARTITION BY srcStateName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8321040" cy="54864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(PARTITION BY srcStateName ORDER BY SumInsured DESC)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85032"/>
            <a:ext cx="164592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85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SUM() OVER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68503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Cumulative FarmersPremiumAmount per district, ordered by year ascending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8321040" cy="54864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SUM(FarmersPremiumAmount) OVER (PARTITION BY srcStateName, srcDistrictName ORDER BY srcYear ASC)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</a:rPr>
              <a:t>All window functions run without materialising intermediate results — computationally efficient for large district-year datasets.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INTEGRITY &amp; CONSTRAINTS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Constraints Applied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3716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 KEY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19072" y="1371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rowID — ensures every row is uniquely identifiable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93392"/>
            <a:ext cx="13716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93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FOREIGN KEY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19933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districts.StateCode → states.StateCode — referential integrity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15184"/>
            <a:ext cx="13716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15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 NULL (implicit)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9072" y="261518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Core insurance &amp; geographic fields validated during load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23697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36976"/>
            <a:ext cx="13716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36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 (SQL_SAFE_UPDATES)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19072" y="323697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Enabled/disabled around bulk UPDATE operations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58768"/>
            <a:ext cx="137160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58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3858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rowID enforced as PK prevents duplicate records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DML Operations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71600"/>
            <a:ext cx="109728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463040"/>
            <a:ext cx="7772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463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UPDATE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87568" y="144475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Set FarmersPremiumAmount = 500 for rowID = 1 — targeted single-row update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17627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176272"/>
            <a:ext cx="109728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2267712"/>
            <a:ext cx="7772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UPDATE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87568" y="22494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Bulk update srcYear = 2021 for all Himachal Pradesh rows (with safe update toggle)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98094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80944"/>
            <a:ext cx="109728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072384"/>
            <a:ext cx="7772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DELETE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87568" y="305409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Remove records where TotalFarmersCovered &lt; 10,000 AND year = 2020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78561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785616"/>
            <a:ext cx="109728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3877056"/>
            <a:ext cx="7772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877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ALTER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87568" y="38587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Add FK constraint fk_statecode linking districts to states post-creation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D6A7"/>
                </a:solidFill>
              </a:rPr>
              <a:t>CONCLUSIONS &amp;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046720" cy="402336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320040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End-to-end SQL project from schema design to advanced 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046720" cy="402336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84248"/>
            <a:ext cx="320040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8424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98424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government dataset (NDAP) with genuine data quality challenges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046720" cy="402336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59736"/>
            <a:ext cx="320040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973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45973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Window functions used for ranking, cumulative, and comparative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35224"/>
            <a:ext cx="8046720" cy="402336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35224"/>
            <a:ext cx="320040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3522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2935224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Subqueries and CTEs applied to solve multi-layer business questions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8046720" cy="402336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10712"/>
            <a:ext cx="320040" cy="40233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071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41071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integrity enforced through PK, FK, and safe update practices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1788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</a:rPr>
              <a:t>github.com/debojyoti  |  MySQL  |  NDAP Open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Farmers Insurance Analysis - India</dc:title>
  <dc:subject>PptxGenJS Presentation</dc:subject>
  <dc:creator>Debojyoti</dc:creator>
  <cp:lastModifiedBy>Debojyoti</cp:lastModifiedBy>
  <cp:revision>1</cp:revision>
  <dcterms:created xsi:type="dcterms:W3CDTF">2026-05-30T13:49:02Z</dcterms:created>
  <dcterms:modified xsi:type="dcterms:W3CDTF">2026-05-30T13:49:02Z</dcterms:modified>
</cp:coreProperties>
</file>